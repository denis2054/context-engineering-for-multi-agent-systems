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GOVERNANCE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a helpful assistant</a:t>
            </a:r>
            <a:endParaRPr lang="en-US" sz="46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becomes an autonomous operator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8620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teaching case study built on a real ~300-line computer-use harness (astra.py). How a general-purpose desktop agent can be pointed at things it was never designed to do — and why that makes governance non-optional.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539496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2E3648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5394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harness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539496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2E3648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5394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The jailbreak surface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539496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2E3648"/>
          </a:solidFill>
          <a:ln w="9525">
            <a:solidFill>
              <a:srgbClr val="E8A33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035040" y="53949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governance gap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material · defensive framing · no exploit tooling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SPECIMEN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astra.py is not a hacking tool. That is the point.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492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2E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small, ordinary computer-use harness: it screenshots the desktop, sends the image to a model, receives actions, and performs them with mouse and keyboard. Nothing in it is malicious. Everything dangerous about it comes from what it is capable of doing on command.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6492240" cy="731520"/>
          </a:xfrm>
          <a:prstGeom prst="roundRect">
            <a:avLst>
              <a:gd name="adj" fmla="val 7500"/>
            </a:avLst>
          </a:prstGeom>
          <a:solidFill>
            <a:srgbClr val="F1F3F7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30175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~300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30175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Python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6492240" cy="731520"/>
          </a:xfrm>
          <a:prstGeom prst="roundRect">
            <a:avLst>
              <a:gd name="adj" fmla="val 7500"/>
            </a:avLst>
          </a:prstGeom>
          <a:solidFill>
            <a:srgbClr val="F1F3F7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38862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38862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free-text objective from the user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6492240" cy="731520"/>
          </a:xfrm>
          <a:prstGeom prst="roundRect">
            <a:avLst>
              <a:gd name="adj" fmla="val 7500"/>
            </a:avLst>
          </a:prstGeom>
          <a:solidFill>
            <a:srgbClr val="F1F3F7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475488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1920240" y="47548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types: click, type, drag, keypress…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623560"/>
            <a:ext cx="6492240" cy="731520"/>
          </a:xfrm>
          <a:prstGeom prst="roundRect">
            <a:avLst>
              <a:gd name="adj" fmla="val 7500"/>
            </a:avLst>
          </a:prstGeom>
          <a:solidFill>
            <a:srgbClr val="F1F3F7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56235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56235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controls in the whole file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406640" y="1463040"/>
            <a:ext cx="4206240" cy="4754880"/>
          </a:xfrm>
          <a:prstGeom prst="roundRect">
            <a:avLst>
              <a:gd name="adj" fmla="val 1739"/>
            </a:avLst>
          </a:prstGeom>
          <a:solidFill>
            <a:srgbClr val="1A1F2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80960" y="1691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LOOP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80960" y="2148840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809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8275320" y="212140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275320" y="23957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the live desktop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680960" y="2898648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80960" y="2898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275320" y="287121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314553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→ model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680960" y="3648456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680960" y="36484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8275320" y="36210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389534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returns actions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680960" y="4398264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680960" y="4398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43708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46451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/ type / drag / keypress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680960" y="5148072"/>
            <a:ext cx="457200" cy="4572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7680960" y="5148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275320" y="51206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8275320" y="5394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again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7680960" y="5852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repeats until the model stops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 are the eyes. The actions are the hands.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2E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that can only screenshot is a describer. The moment it can click and type, it is an operator — it can open apps, run commands, change settings, and move files. This is astra.py's real action set: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2567864" cy="1417320"/>
          </a:xfrm>
          <a:prstGeom prst="roundRect">
            <a:avLst>
              <a:gd name="adj" fmla="val 3871"/>
            </a:avLst>
          </a:prstGeom>
          <a:solidFill>
            <a:srgbClr val="F1F3F7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65176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4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click()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063240"/>
            <a:ext cx="220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any on-screen control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90824" y="2468880"/>
            <a:ext cx="2567864" cy="1417320"/>
          </a:xfrm>
          <a:prstGeom prst="roundRect">
            <a:avLst>
              <a:gd name="adj" fmla="val 3871"/>
            </a:avLst>
          </a:prstGeom>
          <a:solidFill>
            <a:srgbClr val="F1F3F7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73704" y="265176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4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double_click()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73704" y="3063240"/>
            <a:ext cx="220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items, confirm dialogs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33008" y="2468880"/>
            <a:ext cx="2567864" cy="1417320"/>
          </a:xfrm>
          <a:prstGeom prst="roundRect">
            <a:avLst>
              <a:gd name="adj" fmla="val 3871"/>
            </a:avLst>
          </a:prstGeom>
          <a:solidFill>
            <a:srgbClr val="F1F3F7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15888" y="265176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4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move()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15888" y="3063240"/>
            <a:ext cx="220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 the pointer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075191" y="2468880"/>
            <a:ext cx="2567864" cy="1417320"/>
          </a:xfrm>
          <a:prstGeom prst="roundRect">
            <a:avLst>
              <a:gd name="adj" fmla="val 3871"/>
            </a:avLst>
          </a:prstGeom>
          <a:solidFill>
            <a:srgbClr val="F1F3F7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258071" y="265176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4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drag()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258071" y="3063240"/>
            <a:ext cx="220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move, drag-and-drop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69080"/>
            <a:ext cx="2567864" cy="1417320"/>
          </a:xfrm>
          <a:prstGeom prst="roundRect">
            <a:avLst>
              <a:gd name="adj" fmla="val 3871"/>
            </a:avLst>
          </a:prstGeom>
          <a:solidFill>
            <a:srgbClr val="F1F3F7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31520" y="425196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4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type()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4663440"/>
            <a:ext cx="220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arbitrary text &amp; commands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90824" y="4069080"/>
            <a:ext cx="2567864" cy="1417320"/>
          </a:xfrm>
          <a:prstGeom prst="roundRect">
            <a:avLst>
              <a:gd name="adj" fmla="val 3871"/>
            </a:avLst>
          </a:prstGeom>
          <a:solidFill>
            <a:srgbClr val="F1F3F7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573704" y="425196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4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keypress()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3573704" y="4663440"/>
            <a:ext cx="220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shortcuts &amp; combos (Ctrl+L, Win+R)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33008" y="4069080"/>
            <a:ext cx="2567864" cy="1417320"/>
          </a:xfrm>
          <a:prstGeom prst="roundRect">
            <a:avLst>
              <a:gd name="adj" fmla="val 3871"/>
            </a:avLst>
          </a:prstGeom>
          <a:solidFill>
            <a:srgbClr val="F1F3F7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15888" y="425196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4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scroll()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415888" y="4663440"/>
            <a:ext cx="220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off-screen content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075191" y="4069080"/>
            <a:ext cx="2567864" cy="1417320"/>
          </a:xfrm>
          <a:prstGeom prst="roundRect">
            <a:avLst>
              <a:gd name="adj" fmla="val 3871"/>
            </a:avLst>
          </a:prstGeom>
          <a:solidFill>
            <a:srgbClr val="F1F3F7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258071" y="425196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74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wait()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258071" y="4663440"/>
            <a:ext cx="220210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for the UI to catch up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is inherently offensive. But together they are complete control of the desktop — the same primitives a person uses to do anything at all.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INSIGHT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capability lives in the objective —</a:t>
            </a:r>
            <a:endParaRPr lang="en-US" sz="3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in the code.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no “weakness-finder” file to write and no exploit to author. The harness prompts: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32918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2E3648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291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 "What would you like Astra to do? "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48640" y="43434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232A3A"/>
          </a:solidFill>
          <a:ln w="15875">
            <a:solidFill>
              <a:srgbClr val="3E8E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526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8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BENIGN OBJECTIVE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463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"Open Settings and read back my update status."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715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Helpful assistant. Exactly what the tool looks like it is for.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43434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232A3A"/>
          </a:solidFill>
          <a:ln w="15875">
            <a:solidFill>
              <a:srgbClr val="C744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45262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7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HARMFUL OBJECTIVE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8463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sentence redirecting the same loop at the machine's defenses.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57150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code. Same actions. The only thing that changed is the instruction.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C7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JAILBREAK SURFACE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benign tool drifts into misuse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2E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"Jailbreak" here isn't a clever exploit — it's the ordinary gap between what a tool was built for and what it can be told to do. Four ways that gap opens: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F1F3F7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606040"/>
            <a:ext cx="548640" cy="548640"/>
          </a:xfrm>
          <a:prstGeom prst="ellipse">
            <a:avLst/>
          </a:prstGeom>
          <a:solidFill>
            <a:srgbClr val="C7443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2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redirection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461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E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free-text goal is the whole attack surface. One sentence repurposes the agent.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233172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F1F3F7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2606040"/>
            <a:ext cx="548640" cy="548640"/>
          </a:xfrm>
          <a:prstGeom prst="ellipse">
            <a:avLst/>
          </a:prstGeom>
          <a:solidFill>
            <a:srgbClr val="C7443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2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62432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Autonomy compounding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24612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E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plans its own next step. Small approved actions chain into outcomes no one approved.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48640" y="420624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F1F3F7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480560"/>
            <a:ext cx="548640" cy="548640"/>
          </a:xfrm>
          <a:prstGeom prst="ellipse">
            <a:avLst/>
          </a:prstGeom>
          <a:solidFill>
            <a:srgbClr val="C7443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2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4988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injection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512064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E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the agent reads on-screen (a doc, a webpage) can hijack its goal mid-task.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72200" y="4206240"/>
            <a:ext cx="5440680" cy="1691640"/>
          </a:xfrm>
          <a:prstGeom prst="roundRect">
            <a:avLst>
              <a:gd name="adj" fmla="val 3784"/>
            </a:avLst>
          </a:prstGeom>
          <a:solidFill>
            <a:srgbClr val="F1F3F7"/>
          </a:solidFill>
          <a:ln w="12700">
            <a:solidFill>
              <a:srgbClr val="D5DA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46520" y="4480560"/>
            <a:ext cx="548640" cy="548640"/>
          </a:xfrm>
          <a:prstGeom prst="ellipse">
            <a:avLst/>
          </a:prstGeom>
          <a:solidFill>
            <a:srgbClr val="C7443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46520" y="4480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32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449884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fatigue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46520" y="5120640"/>
            <a:ext cx="4892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2E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per-action y/N gate becomes a reflex. The human approves without reading.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GAP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controls present. A whole framework missing.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1F3F7"/>
          </a:solidFill>
          <a:ln w="15875">
            <a:solidFill>
              <a:srgbClr val="3E8E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8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HAS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8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1945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Per-action y/N gate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54203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E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confirms each step — but fatigues fast.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8E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4612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Corner-mouse failsafe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93592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E36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PyAutoGUI abort — a kill-switch only if a human is watching.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02920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depend on a vigilant human in the loop. Neither constrains what the agent may attempt.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2200" y="155448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BF1EE"/>
          </a:solidFill>
          <a:ln w="15875">
            <a:solidFill>
              <a:srgbClr val="C744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46520" y="1737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4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LACKS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21945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4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21945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 allow-list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28529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4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285292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scoped / bounded objective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3511296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4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351129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log of actions taken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4169664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4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4169664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reversibility guarantee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82803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4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7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0" y="4828032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independent kill-switch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46520" y="548640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744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6858000" y="54864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injection defense on read content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FRAMEWORK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controls that turn an operator into a governed agent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2E3648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1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93392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Authorization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0604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Who/what may the agent act as? Least privilege, not the user's full session.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38218" y="173736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2E3648"/>
          </a:solidFill>
          <a:ln/>
        </p:spPr>
      </p:sp>
      <p:sp>
        <p:nvSpPr>
          <p:cNvPr id="10" name="Shape 8"/>
          <p:cNvSpPr/>
          <p:nvPr/>
        </p:nvSpPr>
        <p:spPr>
          <a:xfrm>
            <a:off x="4566818" y="19659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66818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10" dirty="0"/>
          </a:p>
        </p:txBody>
      </p:sp>
      <p:sp>
        <p:nvSpPr>
          <p:cNvPr id="12" name="Text 10"/>
          <p:cNvSpPr txBox="1"/>
          <p:nvPr/>
        </p:nvSpPr>
        <p:spPr>
          <a:xfrm>
            <a:off x="5206898" y="1993392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Scoping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566818" y="260604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bounded objective and an explicit allow-list of permitted actions.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27797" y="173736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2E3648"/>
          </a:solidFill>
          <a:ln/>
        </p:spPr>
      </p:sp>
      <p:sp>
        <p:nvSpPr>
          <p:cNvPr id="15" name="Shape 13"/>
          <p:cNvSpPr/>
          <p:nvPr/>
        </p:nvSpPr>
        <p:spPr>
          <a:xfrm>
            <a:off x="8356397" y="196596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56397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10" dirty="0"/>
          </a:p>
        </p:txBody>
      </p:sp>
      <p:sp>
        <p:nvSpPr>
          <p:cNvPr id="17" name="Text 15"/>
          <p:cNvSpPr txBox="1"/>
          <p:nvPr/>
        </p:nvSpPr>
        <p:spPr>
          <a:xfrm>
            <a:off x="8996477" y="1993392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356397" y="260604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approval for consequential steps — designed against fatigue.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2E3648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114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1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4142232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Logging &amp; audit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75488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recorded, reviewable, attributable after the fact.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338218" y="388620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2E3648"/>
          </a:solidFill>
          <a:ln/>
        </p:spPr>
      </p:sp>
      <p:sp>
        <p:nvSpPr>
          <p:cNvPr id="25" name="Shape 23"/>
          <p:cNvSpPr/>
          <p:nvPr/>
        </p:nvSpPr>
        <p:spPr>
          <a:xfrm>
            <a:off x="4566818" y="4114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66818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10" dirty="0"/>
          </a:p>
        </p:txBody>
      </p:sp>
      <p:sp>
        <p:nvSpPr>
          <p:cNvPr id="27" name="Text 25"/>
          <p:cNvSpPr txBox="1"/>
          <p:nvPr/>
        </p:nvSpPr>
        <p:spPr>
          <a:xfrm>
            <a:off x="5206898" y="4142232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Reversibility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4566818" y="475488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read-only; make changes undoable; sandbox the blast radius.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127797" y="3886200"/>
            <a:ext cx="3515258" cy="1965960"/>
          </a:xfrm>
          <a:prstGeom prst="roundRect">
            <a:avLst>
              <a:gd name="adj" fmla="val 3721"/>
            </a:avLst>
          </a:prstGeom>
          <a:solidFill>
            <a:srgbClr val="2E3648"/>
          </a:solidFill>
          <a:ln/>
        </p:spPr>
      </p:sp>
      <p:sp>
        <p:nvSpPr>
          <p:cNvPr id="30" name="Shape 28"/>
          <p:cNvSpPr/>
          <p:nvPr/>
        </p:nvSpPr>
        <p:spPr>
          <a:xfrm>
            <a:off x="8356397" y="41148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56397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10" dirty="0"/>
          </a:p>
        </p:txBody>
      </p:sp>
      <p:sp>
        <p:nvSpPr>
          <p:cNvPr id="32" name="Text 30"/>
          <p:cNvSpPr txBox="1"/>
          <p:nvPr/>
        </p:nvSpPr>
        <p:spPr>
          <a:xfrm>
            <a:off x="8996477" y="4142232"/>
            <a:ext cx="241797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Kill-switch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8356397" y="4754880"/>
            <a:ext cx="305805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stop that doesn't rely on a human noticing in time.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PRINCIPLE TO PRACTICE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each control lives in the harness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solidFill>
            <a:srgbClr val="1A1F2B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002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2880360" y="16002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change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823960" y="1600200"/>
            <a:ext cx="26819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point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1109441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2057400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Scoping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2057400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free-text goal with a fixed task menu; enforce an ALLOWED_ACTIONS set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823960" y="2057400"/>
            <a:ext cx="26819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4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execute_computer_action()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898648"/>
            <a:ext cx="11094415" cy="841248"/>
          </a:xfrm>
          <a:prstGeom prst="rect">
            <a:avLst/>
          </a:prstGeom>
          <a:solidFill>
            <a:srgbClr val="F1F3F7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2898648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Human-in-loop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2898648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confirm_action() but batch-review + require typed intent, not a reflex 'y'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8823960" y="2898648"/>
            <a:ext cx="26819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4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confirm_action()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39896"/>
            <a:ext cx="1109441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739896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2880360" y="3739896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every action + screenshot hash to an append-only audit file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8823960" y="3739896"/>
            <a:ext cx="26819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4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action loop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581144"/>
            <a:ext cx="11094415" cy="841248"/>
          </a:xfrm>
          <a:prstGeom prst="rect">
            <a:avLst/>
          </a:prstGeom>
          <a:solidFill>
            <a:srgbClr val="F1F3F7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4581144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Reversibility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880360" y="4581144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to observe-only actions; gate any state-changing action separately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823960" y="4581144"/>
            <a:ext cx="26819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4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execute_computer_action()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422392"/>
            <a:ext cx="11094415" cy="841248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5422392"/>
            <a:ext cx="19202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Kill-switch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2880360" y="5422392"/>
            <a:ext cx="56692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FAILSAFE; add a step budget and a wall-clock timeout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5422392"/>
            <a:ext cx="268193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44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run_agent()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00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require new AI. They are engineering discipline applied to an existing capability.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LEAVE WITH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things to remember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2E3648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14884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2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96596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barrier is not code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35000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a helpful assistant from a misused agent is a sentence and a click — not a special build. So the safeguard can't be 'don't write the bad file.'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461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2E3648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61188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22960" y="3611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2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42900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Autonomy is the risk multiplier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81304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access + self-directed planning + no human in the path = outcomes no one authorized. Govern the loop, not just the prompt.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7091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2E3648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5074920"/>
            <a:ext cx="548640" cy="54864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2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892040"/>
            <a:ext cx="9784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is a design choice, made early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276088"/>
            <a:ext cx="9784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C6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Allow-lists, scoping, logging, reversibility, and a real kill-switch are cheap to add up front and painful to retrofit after an incident.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355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can do anything a user can do must be governed like a user who can do anything.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2026-09-09T22:53:24Z</dcterms:created>
  <dcterms:modified xsi:type="dcterms:W3CDTF">2026-09-09T22:53:24Z</dcterms:modified>
</cp:coreProperties>
</file>